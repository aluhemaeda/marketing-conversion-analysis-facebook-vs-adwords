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3" r:id="rId16"/>
    <p:sldId id="274" r:id="rId17"/>
    <p:sldId id="276" r:id="rId18"/>
    <p:sldId id="277" r:id="rId19"/>
  </p:sldIdLst>
  <p:sldSz cx="9144000" cy="5143500" type="screen16x9"/>
  <p:notesSz cx="6858000" cy="9144000"/>
  <p:embeddedFontLst>
    <p:embeddedFont>
      <p:font typeface="DM Sans" pitchFamily="2" charset="0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70C72C-C8D2-41D2-9ABF-87F5FF5DFCD0}">
  <a:tblStyle styleId="{FD70C72C-C8D2-41D2-9ABF-87F5FF5DFCD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4660"/>
  </p:normalViewPr>
  <p:slideViewPr>
    <p:cSldViewPr snapToGrid="0">
      <p:cViewPr>
        <p:scale>
          <a:sx n="75" d="100"/>
          <a:sy n="75" d="100"/>
        </p:scale>
        <p:origin x="1930" y="52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US"/>
          </a:p>
        </p:txBody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f2417238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US"/>
          </a:p>
        </p:txBody>
      </p:sp>
      <p:sp>
        <p:nvSpPr>
          <p:cNvPr id="54" name="Google Shape;54;gf24172381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f24172381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US"/>
          </a:p>
        </p:txBody>
      </p:sp>
      <p:sp>
        <p:nvSpPr>
          <p:cNvPr id="66" name="Google Shape;66;gf24172381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f903b244e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US"/>
          </a:p>
        </p:txBody>
      </p:sp>
      <p:sp>
        <p:nvSpPr>
          <p:cNvPr id="75" name="Google Shape;75;gf903b244e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f24172381d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US"/>
          </a:p>
        </p:txBody>
      </p:sp>
      <p:sp>
        <p:nvSpPr>
          <p:cNvPr id="84" name="Google Shape;84;gf24172381d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f24172381d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US"/>
          </a:p>
        </p:txBody>
      </p:sp>
      <p:sp>
        <p:nvSpPr>
          <p:cNvPr id="92" name="Google Shape;92;gf24172381d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f903b244e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US"/>
          </a:p>
        </p:txBody>
      </p:sp>
      <p:sp>
        <p:nvSpPr>
          <p:cNvPr id="100" name="Google Shape;100;gf903b244e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cb4d64c7d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US"/>
          </a:p>
        </p:txBody>
      </p:sp>
      <p:sp>
        <p:nvSpPr>
          <p:cNvPr id="115" name="Google Shape;115;gcb4d64c7d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f266468e8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US"/>
          </a:p>
        </p:txBody>
      </p:sp>
      <p:sp>
        <p:nvSpPr>
          <p:cNvPr id="127" name="Google Shape;127;gf266468e8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f266468e8d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US"/>
          </a:p>
        </p:txBody>
      </p:sp>
      <p:sp>
        <p:nvSpPr>
          <p:cNvPr id="135" name="Google Shape;135;gf266468e8d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f266468e8d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US"/>
          </a:p>
        </p:txBody>
      </p:sp>
      <p:sp>
        <p:nvSpPr>
          <p:cNvPr id="152" name="Google Shape;152;gf266468e8d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cb4d64c7de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US"/>
          </a:p>
        </p:txBody>
      </p:sp>
      <p:sp>
        <p:nvSpPr>
          <p:cNvPr id="159" name="Google Shape;159;gcb4d64c7de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f2bc20c609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US"/>
          </a:p>
        </p:txBody>
      </p:sp>
      <p:sp>
        <p:nvSpPr>
          <p:cNvPr id="167" name="Google Shape;167;gf2bc20c609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cb4d64c7d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US"/>
          </a:p>
        </p:txBody>
      </p:sp>
      <p:sp>
        <p:nvSpPr>
          <p:cNvPr id="176" name="Google Shape;176;gcb4d64c7d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f2bc20c609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US"/>
          </a:p>
        </p:txBody>
      </p:sp>
      <p:sp>
        <p:nvSpPr>
          <p:cNvPr id="189" name="Google Shape;189;gf2bc20c609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f2bc20c609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US"/>
          </a:p>
        </p:txBody>
      </p:sp>
      <p:sp>
        <p:nvSpPr>
          <p:cNvPr id="196" name="Google Shape;196;gf2bc20c609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f1a1597b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US"/>
          </a:p>
        </p:txBody>
      </p:sp>
      <p:sp>
        <p:nvSpPr>
          <p:cNvPr id="209" name="Google Shape;209;gf1a1597b1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626725"/>
            <a:ext cx="9144000" cy="1399200"/>
          </a:xfrm>
          <a:prstGeom prst="rect">
            <a:avLst/>
          </a:prstGeom>
          <a:solidFill>
            <a:srgbClr val="69BCC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201250" tIns="100600" rIns="201250" bIns="1006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3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A0049"/>
              </a:buClr>
              <a:buSzPts val="5200"/>
              <a:buNone/>
              <a:defRPr sz="5200">
                <a:solidFill>
                  <a:srgbClr val="0A004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A0049"/>
              </a:buClr>
              <a:buSzPts val="5200"/>
              <a:buNone/>
              <a:defRPr sz="5200">
                <a:solidFill>
                  <a:srgbClr val="0A004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A0049"/>
              </a:buClr>
              <a:buSzPts val="5200"/>
              <a:buNone/>
              <a:defRPr sz="5200">
                <a:solidFill>
                  <a:srgbClr val="0A004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A0049"/>
              </a:buClr>
              <a:buSzPts val="5200"/>
              <a:buNone/>
              <a:defRPr sz="5200">
                <a:solidFill>
                  <a:srgbClr val="0A004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A0049"/>
              </a:buClr>
              <a:buSzPts val="5200"/>
              <a:buNone/>
              <a:defRPr sz="5200">
                <a:solidFill>
                  <a:srgbClr val="0A004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A0049"/>
              </a:buClr>
              <a:buSzPts val="5200"/>
              <a:buNone/>
              <a:defRPr sz="5200">
                <a:solidFill>
                  <a:srgbClr val="0A004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A0049"/>
              </a:buClr>
              <a:buSzPts val="5200"/>
              <a:buNone/>
              <a:defRPr sz="5200">
                <a:solidFill>
                  <a:srgbClr val="0A004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A0049"/>
              </a:buClr>
              <a:buSzPts val="5200"/>
              <a:buNone/>
              <a:defRPr sz="5200">
                <a:solidFill>
                  <a:srgbClr val="0A004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ptl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9144000" cy="986100"/>
          </a:xfrm>
          <a:prstGeom prst="rect">
            <a:avLst/>
          </a:prstGeom>
          <a:solidFill>
            <a:srgbClr val="69BCC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201250" tIns="100600" rIns="201250" bIns="1006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3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DM Sans"/>
              <a:buNone/>
              <a:defRPr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A0049"/>
              </a:buClr>
              <a:buSzPts val="3200"/>
              <a:buNone/>
              <a:defRPr sz="3200">
                <a:solidFill>
                  <a:srgbClr val="0A004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A0049"/>
              </a:buClr>
              <a:buSzPts val="3200"/>
              <a:buNone/>
              <a:defRPr sz="3200">
                <a:solidFill>
                  <a:srgbClr val="0A004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A0049"/>
              </a:buClr>
              <a:buSzPts val="3200"/>
              <a:buNone/>
              <a:defRPr sz="3200">
                <a:solidFill>
                  <a:srgbClr val="0A004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A0049"/>
              </a:buClr>
              <a:buSzPts val="3200"/>
              <a:buNone/>
              <a:defRPr sz="3200">
                <a:solidFill>
                  <a:srgbClr val="0A004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A0049"/>
              </a:buClr>
              <a:buSzPts val="3200"/>
              <a:buNone/>
              <a:defRPr sz="3200">
                <a:solidFill>
                  <a:srgbClr val="0A004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A0049"/>
              </a:buClr>
              <a:buSzPts val="3200"/>
              <a:buNone/>
              <a:defRPr sz="3200">
                <a:solidFill>
                  <a:srgbClr val="0A004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A0049"/>
              </a:buClr>
              <a:buSzPts val="3200"/>
              <a:buNone/>
              <a:defRPr sz="3200">
                <a:solidFill>
                  <a:srgbClr val="0A004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A0049"/>
              </a:buClr>
              <a:buSzPts val="3200"/>
              <a:buNone/>
              <a:defRPr sz="3200">
                <a:solidFill>
                  <a:srgbClr val="0A0049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DM Sans"/>
              <a:buNone/>
              <a:defRPr sz="2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"/>
              <a:buNone/>
              <a:defRPr sz="2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"/>
              <a:buNone/>
              <a:defRPr sz="2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"/>
              <a:buNone/>
              <a:defRPr sz="2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"/>
              <a:buNone/>
              <a:defRPr sz="2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"/>
              <a:buNone/>
              <a:defRPr sz="2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"/>
              <a:buNone/>
              <a:defRPr sz="2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"/>
              <a:buNone/>
              <a:defRPr sz="2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"/>
              <a:buNone/>
              <a:defRPr sz="2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Char char="●"/>
              <a:defRPr sz="1800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ctrTitle"/>
          </p:nvPr>
        </p:nvSpPr>
        <p:spPr>
          <a:xfrm>
            <a:off x="311708" y="260196"/>
            <a:ext cx="8520600" cy="25369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/>
            <a:r>
              <a:rPr lang="en-US" sz="5400" dirty="0"/>
              <a:t>Marketing Conversion Analysis: Facebook vs Google AdWords</a:t>
            </a:r>
            <a:endParaRPr sz="5400"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/>
            <a:r>
              <a:rPr lang="en-US" dirty="0"/>
              <a:t>Data-driven comparison of Advertising platforms </a:t>
            </a:r>
            <a:endParaRPr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8F4A94F-A7E3-A832-6B65-801C2E6487D7}"/>
              </a:ext>
            </a:extLst>
          </p:cNvPr>
          <p:cNvSpPr txBox="1"/>
          <p:nvPr/>
        </p:nvSpPr>
        <p:spPr>
          <a:xfrm>
            <a:off x="2287858" y="4469740"/>
            <a:ext cx="4568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/>
              <a:t>Descriptive </a:t>
            </a:r>
            <a:r>
              <a:rPr lang="es-AR" sz="1200" dirty="0" err="1"/>
              <a:t>Statistics</a:t>
            </a:r>
            <a:r>
              <a:rPr lang="es-AR" sz="1200" dirty="0"/>
              <a:t>, </a:t>
            </a:r>
            <a:r>
              <a:rPr lang="es-AR" sz="1200" dirty="0" err="1"/>
              <a:t>Hypothesis</a:t>
            </a:r>
            <a:r>
              <a:rPr lang="es-AR" sz="1200" dirty="0"/>
              <a:t> </a:t>
            </a:r>
            <a:r>
              <a:rPr lang="es-AR" sz="1200" dirty="0" err="1"/>
              <a:t>testing</a:t>
            </a:r>
            <a:r>
              <a:rPr lang="es-AR" sz="1200" dirty="0"/>
              <a:t>, &amp; </a:t>
            </a:r>
            <a:r>
              <a:rPr lang="es-AR" sz="1200" dirty="0" err="1"/>
              <a:t>Regression</a:t>
            </a:r>
            <a:r>
              <a:rPr lang="es-AR" sz="1200" dirty="0"/>
              <a:t> </a:t>
            </a:r>
            <a:r>
              <a:rPr lang="es-AR" sz="1200" dirty="0" err="1"/>
              <a:t>Analysis</a:t>
            </a:r>
            <a:endParaRPr lang="es-AR" sz="1200" dirty="0"/>
          </a:p>
          <a:p>
            <a:r>
              <a:rPr lang="es-AR" sz="1200" dirty="0"/>
              <a:t>               Objetive: Compare </a:t>
            </a:r>
            <a:r>
              <a:rPr lang="es-AR" sz="1200" dirty="0" err="1"/>
              <a:t>Conversion</a:t>
            </a:r>
            <a:r>
              <a:rPr lang="es-AR" sz="1200" dirty="0"/>
              <a:t> Performance</a:t>
            </a:r>
            <a:endParaRPr lang="es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Business Context</a:t>
            </a:r>
            <a:endParaRPr dirty="0"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 err="1">
                <a:highlight>
                  <a:srgbClr val="FFDE00"/>
                </a:highlight>
              </a:rPr>
              <a:t>BrightThreads</a:t>
            </a:r>
            <a:r>
              <a:rPr lang="en-US" dirty="0">
                <a:highlight>
                  <a:srgbClr val="FFDE00"/>
                </a:highlight>
              </a:rPr>
              <a:t> invests in paid digital advertising across multiple platforms, including Facebook and Google AdWords.</a:t>
            </a:r>
            <a:br>
              <a:rPr lang="en-US" dirty="0">
                <a:highlight>
                  <a:srgbClr val="FFDE00"/>
                </a:highlight>
              </a:rPr>
            </a:br>
            <a:r>
              <a:rPr lang="en-US" dirty="0">
                <a:highlight>
                  <a:srgbClr val="FFDE00"/>
                </a:highlight>
              </a:rPr>
              <a:t>Management wants to identify which platform generates a higher number of conversions in order to optimize future marketing budget allocation and improve return on investment (ROI).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US" sz="2800" b="1" dirty="0"/>
              <a:t>Descriptive </a:t>
            </a:r>
            <a:r>
              <a:rPr lang="es-US" sz="2800" b="1" dirty="0" err="1"/>
              <a:t>Statistics</a:t>
            </a:r>
            <a:r>
              <a:rPr lang="es-US" sz="2800" b="1" dirty="0"/>
              <a:t> – Ad </a:t>
            </a:r>
            <a:r>
              <a:rPr lang="es-US" sz="2800" b="1" dirty="0" err="1"/>
              <a:t>Clicks</a:t>
            </a:r>
            <a:br>
              <a:rPr lang="es-US" sz="2800" dirty="0"/>
            </a:br>
            <a:endParaRPr sz="2800" dirty="0"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200188" y="1133839"/>
            <a:ext cx="8520600" cy="7509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indent="0">
              <a:buNone/>
            </a:pPr>
            <a:r>
              <a:rPr lang="en-US" sz="1600" dirty="0"/>
              <a:t>Ad clicks are centered around 60 clicks per campaign, indicating stable engagement levels.</a:t>
            </a:r>
          </a:p>
        </p:txBody>
      </p:sp>
      <p:sp>
        <p:nvSpPr>
          <p:cNvPr id="70" name="Google Shape;70;p15"/>
          <p:cNvSpPr txBox="1"/>
          <p:nvPr/>
        </p:nvSpPr>
        <p:spPr>
          <a:xfrm>
            <a:off x="311700" y="2063412"/>
            <a:ext cx="7344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Mean: 60.38</a:t>
            </a:r>
            <a:endParaRPr sz="2400" dirty="0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11700" y="2617512"/>
            <a:ext cx="7344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Median: 60</a:t>
            </a:r>
            <a:endParaRPr sz="2400" dirty="0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311700" y="3171612"/>
            <a:ext cx="7344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Mode: 78</a:t>
            </a:r>
            <a:endParaRPr sz="2400" dirty="0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US" sz="2800" b="1" dirty="0"/>
              <a:t>Descriptive </a:t>
            </a:r>
            <a:r>
              <a:rPr lang="es-US" sz="2800" b="1" dirty="0" err="1"/>
              <a:t>Statistics</a:t>
            </a:r>
            <a:r>
              <a:rPr lang="es-US" sz="2800" b="1" dirty="0"/>
              <a:t> – AdWords </a:t>
            </a:r>
            <a:r>
              <a:rPr lang="es-US" sz="2800" b="1" dirty="0" err="1"/>
              <a:t>Conversions</a:t>
            </a:r>
            <a:br>
              <a:rPr lang="es-US" sz="2800" dirty="0"/>
            </a:br>
            <a:endParaRPr sz="2800"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200188" y="1145041"/>
            <a:ext cx="8520600" cy="4677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indent="0">
              <a:buNone/>
            </a:pPr>
            <a:r>
              <a:rPr lang="en-US" sz="1600" dirty="0"/>
              <a:t>AdWords campaigns generate approximately 6 conversions on average.</a:t>
            </a:r>
          </a:p>
        </p:txBody>
      </p:sp>
      <p:sp>
        <p:nvSpPr>
          <p:cNvPr id="79" name="Google Shape;79;p16"/>
          <p:cNvSpPr txBox="1"/>
          <p:nvPr/>
        </p:nvSpPr>
        <p:spPr>
          <a:xfrm>
            <a:off x="311700" y="1932775"/>
            <a:ext cx="7344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Mean: 5.98</a:t>
            </a:r>
            <a:endParaRPr sz="2400" dirty="0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311700" y="2500788"/>
            <a:ext cx="7344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Median: 6	</a:t>
            </a:r>
            <a:endParaRPr sz="2400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11700" y="3068800"/>
            <a:ext cx="7344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Mode: 5</a:t>
            </a:r>
            <a:endParaRPr sz="2400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US" sz="2800" b="1" dirty="0"/>
              <a:t>Standard </a:t>
            </a:r>
            <a:r>
              <a:rPr lang="es-US" sz="2800" b="1" dirty="0" err="1"/>
              <a:t>Deviation</a:t>
            </a:r>
            <a:br>
              <a:rPr lang="es-US" sz="2800" dirty="0"/>
            </a:br>
            <a:endParaRPr sz="2800" dirty="0"/>
          </a:p>
        </p:txBody>
      </p:sp>
      <p:sp>
        <p:nvSpPr>
          <p:cNvPr id="87" name="Google Shape;87;p17"/>
          <p:cNvSpPr txBox="1">
            <a:spLocks noGrp="1"/>
          </p:cNvSpPr>
          <p:nvPr>
            <p:ph type="body" idx="1"/>
          </p:nvPr>
        </p:nvSpPr>
        <p:spPr>
          <a:xfrm>
            <a:off x="192754" y="1241355"/>
            <a:ext cx="8520600" cy="4677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indent="0">
              <a:buNone/>
            </a:pPr>
            <a:r>
              <a:rPr lang="en-US" sz="1600" dirty="0"/>
              <a:t>Conversions show low variability, indicating consistent campaign performance.</a:t>
            </a:r>
          </a:p>
        </p:txBody>
      </p:sp>
      <p:sp>
        <p:nvSpPr>
          <p:cNvPr id="88" name="Google Shape;88;p17"/>
          <p:cNvSpPr txBox="1"/>
          <p:nvPr/>
        </p:nvSpPr>
        <p:spPr>
          <a:xfrm>
            <a:off x="311700" y="1932775"/>
            <a:ext cx="7344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" sz="2400" dirty="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Clicks Standard Deviation: 14,36</a:t>
            </a:r>
            <a:endParaRPr sz="2400" dirty="0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311700" y="2486875"/>
            <a:ext cx="7344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" sz="2400" dirty="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Conversions Standard Deviation: 1.62</a:t>
            </a:r>
            <a:endParaRPr sz="2400" dirty="0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Frequency and Contingency Tables</a:t>
            </a:r>
            <a:endParaRPr sz="2800" dirty="0"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7509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indent="0">
              <a:buNone/>
            </a:pPr>
            <a:r>
              <a:rPr lang="en-US" sz="1600" dirty="0"/>
              <a:t>Most campaigns generate between 6 and 10 conversions, with no extreme high-conversion outliers.</a:t>
            </a: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3900" y="2001525"/>
            <a:ext cx="3856176" cy="2892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7" name="Google Shape;97;p18"/>
          <p:cNvGraphicFramePr/>
          <p:nvPr>
            <p:extLst>
              <p:ext uri="{D42A27DB-BD31-4B8C-83A1-F6EECF244321}">
                <p14:modId xmlns:p14="http://schemas.microsoft.com/office/powerpoint/2010/main" val="2239856730"/>
              </p:ext>
            </p:extLst>
          </p:nvPr>
        </p:nvGraphicFramePr>
        <p:xfrm>
          <a:off x="2643900" y="2001525"/>
          <a:ext cx="3856175" cy="2892125"/>
        </p:xfrm>
        <a:graphic>
          <a:graphicData uri="http://schemas.openxmlformats.org/drawingml/2006/table">
            <a:tbl>
              <a:tblPr>
                <a:noFill/>
                <a:tableStyleId>{FD70C72C-C8D2-41D2-9ABF-87F5FF5DFCD0}</a:tableStyleId>
              </a:tblPr>
              <a:tblGrid>
                <a:gridCol w="188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8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Quantitys</a:t>
                      </a:r>
                      <a:endParaRPr sz="1000" dirty="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76200" marR="76200" marT="91425" marB="91425" anchor="ctr">
                    <a:lnL w="76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35685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Frequencys</a:t>
                      </a:r>
                      <a:endParaRPr sz="1000" dirty="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76200" marR="76200" marT="91425" marB="91425" anchor="ctr">
                    <a:lnL w="7625" cap="flat" cmpd="sng">
                      <a:solidFill>
                        <a:srgbClr val="35685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568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US" sz="1000" dirty="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</a:t>
                      </a:r>
                      <a:r>
                        <a:rPr lang="en" sz="1000" dirty="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ess than 6 conversions:</a:t>
                      </a:r>
                      <a:endParaRPr sz="1000" dirty="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76200" marR="76200" marT="91425" marB="91425" anchor="ctr">
                    <a:lnL w="76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156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76200" marR="76200" marT="91425" marB="91425" anchor="ctr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 to 10 conversions:</a:t>
                      </a:r>
                      <a:endParaRPr sz="1000" dirty="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76200" marR="76200" marT="91425" marB="91425" anchor="ctr">
                    <a:lnL w="76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209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76200" marR="76200" marT="91425" marB="91425" anchor="ctr">
                    <a:lnL w="76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11 to 15 conversions:</a:t>
                      </a:r>
                      <a:endParaRPr sz="1000" dirty="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76200" marR="76200" marT="91425" marB="91425" anchor="ctr">
                    <a:lnL w="76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76200" marR="76200" marT="91425" marB="91425" anchor="ctr">
                    <a:lnL w="76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More than 15 conversions:</a:t>
                      </a:r>
                      <a:endParaRPr sz="1000" dirty="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76200" marR="76200" marT="91425" marB="91425" anchor="ctr">
                    <a:lnL w="76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000" dirty="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76200" marR="76200" marT="91425" marB="91425" anchor="ctr">
                    <a:lnL w="76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800" b="1" dirty="0"/>
              <a:t>Scatter Plot and Correlation Analysis</a:t>
            </a:r>
            <a:br>
              <a:rPr lang="en-US" sz="2800" dirty="0"/>
            </a:br>
            <a:endParaRPr sz="2800" dirty="0"/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1"/>
          </p:nvPr>
        </p:nvSpPr>
        <p:spPr>
          <a:xfrm>
            <a:off x="207622" y="1118070"/>
            <a:ext cx="8520600" cy="7509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indent="0">
              <a:buNone/>
            </a:pPr>
            <a:r>
              <a:rPr lang="en-US" sz="1600" dirty="0"/>
              <a:t>There is a moderate positive relationship between clicks and conversions.</a:t>
            </a:r>
            <a:br>
              <a:rPr lang="en-US" sz="1600" dirty="0"/>
            </a:br>
            <a:r>
              <a:rPr lang="en-US" sz="1600" dirty="0"/>
              <a:t>An increase in ad clicks generally leads to an increase in conversions.</a:t>
            </a:r>
          </a:p>
        </p:txBody>
      </p:sp>
      <p:sp>
        <p:nvSpPr>
          <p:cNvPr id="104" name="Google Shape;104;p19"/>
          <p:cNvSpPr txBox="1"/>
          <p:nvPr/>
        </p:nvSpPr>
        <p:spPr>
          <a:xfrm>
            <a:off x="311700" y="1869015"/>
            <a:ext cx="3660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Correlation coefficient: 0.44</a:t>
            </a:r>
            <a:endParaRPr sz="1800" dirty="0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2475" y="2382475"/>
            <a:ext cx="3190474" cy="239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6678" y="2218924"/>
            <a:ext cx="4845799" cy="2836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US" sz="2800" b="1" dirty="0" err="1"/>
              <a:t>Exploratory</a:t>
            </a:r>
            <a:r>
              <a:rPr lang="es-US" sz="2800" b="1" dirty="0"/>
              <a:t> Data </a:t>
            </a:r>
            <a:r>
              <a:rPr lang="es-US" sz="2800" b="1" dirty="0" err="1"/>
              <a:t>Analysis</a:t>
            </a:r>
            <a:br>
              <a:rPr lang="es-US" sz="2800" dirty="0"/>
            </a:br>
            <a:endParaRPr sz="2800" dirty="0"/>
          </a:p>
        </p:txBody>
      </p:sp>
      <p:sp>
        <p:nvSpPr>
          <p:cNvPr id="118" name="Google Shape;118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4677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indent="0">
              <a:buNone/>
            </a:pPr>
            <a:r>
              <a:rPr lang="en-US" sz="1600" dirty="0"/>
              <a:t>Histograms were created to examine the distribution of clicks and conversions data.</a:t>
            </a:r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6125" y="2500800"/>
            <a:ext cx="3190474" cy="239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1"/>
          <p:cNvSpPr txBox="1"/>
          <p:nvPr/>
        </p:nvSpPr>
        <p:spPr>
          <a:xfrm>
            <a:off x="4740913" y="2001525"/>
            <a:ext cx="3660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Histogram conversions data:</a:t>
            </a:r>
            <a:endParaRPr sz="1800" dirty="0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900" y="2500800"/>
            <a:ext cx="3190474" cy="239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 txBox="1"/>
          <p:nvPr/>
        </p:nvSpPr>
        <p:spPr>
          <a:xfrm>
            <a:off x="311688" y="2001525"/>
            <a:ext cx="3660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Histogram of clicks data:</a:t>
            </a:r>
            <a:endParaRPr sz="1800" dirty="0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23" name="Google Shape;123;p21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6125" y="2500800"/>
            <a:ext cx="3190476" cy="239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 title="Gráfico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6900" y="2500800"/>
            <a:ext cx="3190476" cy="239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US" sz="2800" b="1" dirty="0" err="1"/>
              <a:t>Distribution</a:t>
            </a:r>
            <a:r>
              <a:rPr lang="es-US" sz="2800" b="1" dirty="0"/>
              <a:t> </a:t>
            </a:r>
            <a:r>
              <a:rPr lang="es-US" sz="2800" b="1" dirty="0" err="1"/>
              <a:t>Assessment</a:t>
            </a:r>
            <a:br>
              <a:rPr lang="es-US" sz="2800" dirty="0"/>
            </a:br>
            <a:endParaRPr sz="2800" dirty="0"/>
          </a:p>
        </p:txBody>
      </p:sp>
      <p:sp>
        <p:nvSpPr>
          <p:cNvPr id="130" name="Google Shape;130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2464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indent="0">
              <a:buNone/>
            </a:pPr>
            <a:r>
              <a:rPr lang="en-US" sz="2000" dirty="0">
                <a:highlight>
                  <a:srgbClr val="FFDE00"/>
                </a:highlight>
              </a:rPr>
              <a:t>The distributions of both clicks and conversions approximate a normal distribution, making them suitable for parametric statistical testing.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Variable Types</a:t>
            </a:r>
            <a:endParaRPr sz="2800" dirty="0"/>
          </a:p>
        </p:txBody>
      </p:sp>
      <p:sp>
        <p:nvSpPr>
          <p:cNvPr id="138" name="Google Shape;138;p23"/>
          <p:cNvSpPr txBox="1">
            <a:spLocks noGrp="1"/>
          </p:cNvSpPr>
          <p:nvPr>
            <p:ph type="body" idx="1"/>
          </p:nvPr>
        </p:nvSpPr>
        <p:spPr>
          <a:xfrm>
            <a:off x="387900" y="1192850"/>
            <a:ext cx="8520600" cy="6216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s-US" sz="1600" dirty="0"/>
              <a:t>Variable </a:t>
            </a:r>
            <a:r>
              <a:rPr lang="es-US" sz="1600" dirty="0" err="1"/>
              <a:t>Classification</a:t>
            </a:r>
            <a:r>
              <a:rPr lang="es-US" sz="1600" dirty="0"/>
              <a:t>:</a:t>
            </a:r>
            <a:endParaRPr sz="1600" dirty="0"/>
          </a:p>
        </p:txBody>
      </p:sp>
      <p:sp>
        <p:nvSpPr>
          <p:cNvPr id="141" name="Google Shape;141;p23"/>
          <p:cNvSpPr txBox="1"/>
          <p:nvPr/>
        </p:nvSpPr>
        <p:spPr>
          <a:xfrm>
            <a:off x="583474" y="1902733"/>
            <a:ext cx="7344600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US" sz="1800" b="1" dirty="0"/>
              <a:t>Quantitative – </a:t>
            </a:r>
            <a:r>
              <a:rPr lang="es-US" sz="1800" b="1" dirty="0" err="1"/>
              <a:t>Continuous</a:t>
            </a:r>
            <a:r>
              <a:rPr lang="es-US" sz="1800" b="1" dirty="0"/>
              <a:t>:</a:t>
            </a:r>
            <a:br>
              <a:rPr lang="es-US" sz="1800" dirty="0"/>
            </a:br>
            <a:r>
              <a:rPr lang="en-US" sz="1800" dirty="0"/>
              <a:t>AdWords Cost Per Ad, Click-Through Rate (CTR), Cost Per Click (CPC), Conversion Rate</a:t>
            </a:r>
          </a:p>
        </p:txBody>
      </p:sp>
      <p:sp>
        <p:nvSpPr>
          <p:cNvPr id="142" name="Google Shape;142;p23"/>
          <p:cNvSpPr txBox="1"/>
          <p:nvPr/>
        </p:nvSpPr>
        <p:spPr>
          <a:xfrm>
            <a:off x="583474" y="2917344"/>
            <a:ext cx="73446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US" sz="1800" b="1" dirty="0"/>
              <a:t>Quantitative – Discrete:</a:t>
            </a:r>
            <a:br>
              <a:rPr lang="es-US" sz="1800" dirty="0"/>
            </a:br>
            <a:r>
              <a:rPr lang="en-US" sz="1800" dirty="0"/>
              <a:t>Ad Clicks, Ad Views, Conversions</a:t>
            </a:r>
          </a:p>
        </p:txBody>
      </p:sp>
      <p:sp>
        <p:nvSpPr>
          <p:cNvPr id="144" name="Google Shape;144;p23"/>
          <p:cNvSpPr txBox="1"/>
          <p:nvPr/>
        </p:nvSpPr>
        <p:spPr>
          <a:xfrm>
            <a:off x="583474" y="3655977"/>
            <a:ext cx="73446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US" sz="1800" b="1" dirty="0"/>
              <a:t>Qualitative – Nominal:</a:t>
            </a:r>
            <a:br>
              <a:rPr lang="es-US" sz="1800" dirty="0"/>
            </a:br>
            <a:r>
              <a:rPr lang="es-US" sz="1800" dirty="0"/>
              <a:t>Advertising Platform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DAA34D5-5DFF-A0CD-BEC5-E96D4BE36E6B}"/>
              </a:ext>
            </a:extLst>
          </p:cNvPr>
          <p:cNvSpPr txBox="1"/>
          <p:nvPr/>
        </p:nvSpPr>
        <p:spPr>
          <a:xfrm>
            <a:off x="583474" y="4393589"/>
            <a:ext cx="25058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sz="1800" b="1" dirty="0"/>
              <a:t>Qualitative – Ordinal:</a:t>
            </a:r>
            <a:br>
              <a:rPr lang="es-US" sz="1800" dirty="0"/>
            </a:br>
            <a:r>
              <a:rPr lang="es-US" sz="1800" dirty="0"/>
              <a:t>Not applicable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US" sz="2800" dirty="0" err="1"/>
              <a:t>Research</a:t>
            </a:r>
            <a:r>
              <a:rPr lang="es-US" sz="2800" dirty="0"/>
              <a:t> </a:t>
            </a:r>
            <a:r>
              <a:rPr lang="es-US" sz="2800" dirty="0" err="1"/>
              <a:t>Question</a:t>
            </a:r>
            <a:r>
              <a:rPr lang="es-US" sz="2800" dirty="0"/>
              <a:t> and </a:t>
            </a:r>
            <a:r>
              <a:rPr lang="es-US" sz="2800" dirty="0" err="1"/>
              <a:t>Hypothesis</a:t>
            </a:r>
            <a:endParaRPr lang="es-US" sz="2800" dirty="0"/>
          </a:p>
        </p:txBody>
      </p:sp>
      <p:sp>
        <p:nvSpPr>
          <p:cNvPr id="155" name="Google Shape;155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3418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n-US" sz="1600" dirty="0"/>
              <a:t>Research Question: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en-US" sz="1600" dirty="0"/>
              <a:t>Is there a difference in the number of conversions between Facebook and AdWords advertising platforms?</a:t>
            </a:r>
          </a:p>
        </p:txBody>
      </p:sp>
      <p:sp>
        <p:nvSpPr>
          <p:cNvPr id="156" name="Google Shape;156;p25"/>
          <p:cNvSpPr txBox="1"/>
          <p:nvPr/>
        </p:nvSpPr>
        <p:spPr>
          <a:xfrm>
            <a:off x="375300" y="2571749"/>
            <a:ext cx="8393400" cy="21360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sz="1800" dirty="0">
                <a:solidFill>
                  <a:srgbClr val="0A004A"/>
                </a:solidFill>
                <a:latin typeface="DM Sans"/>
                <a:ea typeface="DM Sans"/>
                <a:cs typeface="DM Sans"/>
                <a:sym typeface="DM Sans"/>
              </a:rPr>
              <a:t>Hypothesis:</a:t>
            </a:r>
          </a:p>
          <a:p>
            <a:pPr lvl="0"/>
            <a:endParaRPr lang="en-US" sz="1800" dirty="0">
              <a:solidFill>
                <a:srgbClr val="0A004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/>
            <a:r>
              <a:rPr lang="en-US" sz="1800" dirty="0">
                <a:solidFill>
                  <a:srgbClr val="0A004A"/>
                </a:solidFill>
                <a:latin typeface="DM Sans"/>
                <a:ea typeface="DM Sans"/>
                <a:cs typeface="DM Sans"/>
                <a:sym typeface="DM Sans"/>
              </a:rPr>
              <a:t>The number of conversions will be higher on Facebook than on AdWords because Facebook ads reach a more targeted audience.</a:t>
            </a:r>
            <a:endParaRPr sz="1800" dirty="0">
              <a:solidFill>
                <a:srgbClr val="0A004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Variables</a:t>
            </a:r>
            <a:endParaRPr sz="2800" dirty="0"/>
          </a:p>
        </p:txBody>
      </p:sp>
      <p:sp>
        <p:nvSpPr>
          <p:cNvPr id="162" name="Google Shape;162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3698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n-US" sz="1600" dirty="0"/>
              <a:t>Independent Variable: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en-US" sz="1600" dirty="0"/>
              <a:t>Advertising platform (Facebook vs AdWords)</a:t>
            </a:r>
          </a:p>
          <a:p>
            <a:pPr marL="0" lvl="0" indent="0">
              <a:spcAft>
                <a:spcPts val="1200"/>
              </a:spcAft>
              <a:buNone/>
            </a:pPr>
            <a:endParaRPr lang="en-US" sz="1600" dirty="0"/>
          </a:p>
          <a:p>
            <a:pPr marL="0" lvl="0" indent="0">
              <a:spcAft>
                <a:spcPts val="1200"/>
              </a:spcAft>
              <a:buNone/>
            </a:pPr>
            <a:r>
              <a:rPr lang="en-US" sz="1600" dirty="0"/>
              <a:t>Dependent Variable: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en-US" sz="1600" dirty="0"/>
              <a:t>Number of conversions</a:t>
            </a:r>
            <a:endParaRPr lang="en-US" sz="1600" dirty="0">
              <a:highlight>
                <a:srgbClr val="FFDE00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US" sz="2800" dirty="0" err="1"/>
              <a:t>Hypothesis</a:t>
            </a:r>
            <a:r>
              <a:rPr lang="es-US" sz="2800" dirty="0"/>
              <a:t> </a:t>
            </a:r>
            <a:r>
              <a:rPr lang="es-US" sz="2800" dirty="0" err="1"/>
              <a:t>Testing</a:t>
            </a:r>
            <a:r>
              <a:rPr lang="es-US" sz="2800" dirty="0"/>
              <a:t> </a:t>
            </a:r>
            <a:r>
              <a:rPr lang="es-US" sz="2800" dirty="0" err="1"/>
              <a:t>Results</a:t>
            </a:r>
            <a:endParaRPr sz="2800" dirty="0"/>
          </a:p>
        </p:txBody>
      </p:sp>
      <p:sp>
        <p:nvSpPr>
          <p:cNvPr id="170" name="Google Shape;170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9328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0A004A"/>
                </a:solidFill>
                <a:highlight>
                  <a:srgbClr val="FFDE00"/>
                </a:highlight>
              </a:rPr>
              <a:t>Mean number of Facebook conversions: 11,74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0A004A"/>
                </a:solidFill>
                <a:highlight>
                  <a:srgbClr val="FFDE00"/>
                </a:highlight>
              </a:rPr>
              <a:t>Mean number of </a:t>
            </a:r>
            <a:r>
              <a:rPr lang="en-US" sz="1600" dirty="0" err="1">
                <a:solidFill>
                  <a:srgbClr val="0A004A"/>
                </a:solidFill>
                <a:highlight>
                  <a:srgbClr val="FFDE00"/>
                </a:highlight>
              </a:rPr>
              <a:t>Adwords</a:t>
            </a:r>
            <a:r>
              <a:rPr lang="en-US" sz="1600" dirty="0">
                <a:solidFill>
                  <a:srgbClr val="0A004A"/>
                </a:solidFill>
                <a:highlight>
                  <a:srgbClr val="FFDE00"/>
                </a:highlight>
              </a:rPr>
              <a:t> conversions: 5,98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s-US" sz="1600" dirty="0">
                <a:solidFill>
                  <a:srgbClr val="0A004A"/>
                </a:solidFill>
                <a:highlight>
                  <a:srgbClr val="FFDE00"/>
                </a:highlight>
              </a:rPr>
              <a:t>p-</a:t>
            </a:r>
            <a:r>
              <a:rPr lang="es-US" sz="1600" dirty="0" err="1">
                <a:solidFill>
                  <a:srgbClr val="0A004A"/>
                </a:solidFill>
                <a:highlight>
                  <a:srgbClr val="FFDE00"/>
                </a:highlight>
              </a:rPr>
              <a:t>Value</a:t>
            </a:r>
            <a:r>
              <a:rPr lang="es-US" sz="1600" dirty="0">
                <a:solidFill>
                  <a:srgbClr val="0A004A"/>
                </a:solidFill>
                <a:highlight>
                  <a:srgbClr val="FFDE00"/>
                </a:highlight>
              </a:rPr>
              <a:t>: &lt; 0.05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600" dirty="0">
              <a:highlight>
                <a:srgbClr val="FFDE00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US" sz="2800" dirty="0" err="1"/>
              <a:t>Hypothesis</a:t>
            </a:r>
            <a:r>
              <a:rPr lang="es-US" sz="2800" dirty="0"/>
              <a:t> </a:t>
            </a:r>
            <a:r>
              <a:rPr lang="es-US" sz="2800" dirty="0" err="1"/>
              <a:t>Outcome</a:t>
            </a:r>
            <a:endParaRPr lang="es-US" sz="2800" dirty="0"/>
          </a:p>
        </p:txBody>
      </p:sp>
      <p:sp>
        <p:nvSpPr>
          <p:cNvPr id="179" name="Google Shape;179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187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n-US" sz="1600" dirty="0"/>
              <a:t>The results support the alternative hypothesis.</a:t>
            </a:r>
            <a:br>
              <a:rPr lang="en-US" sz="1600" dirty="0"/>
            </a:br>
            <a:r>
              <a:rPr lang="en-US" sz="1600" dirty="0"/>
              <a:t>There is a statistically significant difference between Facebook and AdWords conversions, with Facebook showing a higher average number of conversions</a:t>
            </a:r>
            <a:endParaRPr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US" sz="2800" dirty="0" err="1"/>
              <a:t>Model</a:t>
            </a:r>
            <a:r>
              <a:rPr lang="es-US" sz="2800" dirty="0"/>
              <a:t> </a:t>
            </a:r>
            <a:r>
              <a:rPr lang="es-US" sz="2800" dirty="0" err="1"/>
              <a:t>Selection</a:t>
            </a:r>
            <a:endParaRPr lang="es-US" sz="2800" dirty="0"/>
          </a:p>
        </p:txBody>
      </p:sp>
      <p:sp>
        <p:nvSpPr>
          <p:cNvPr id="192" name="Google Shape;192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0620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n-US" sz="1600" dirty="0"/>
              <a:t>The selected model is simple linear regression.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/>
              <a:t>A simple linear regression model was selected to evaluate the relationship between quantitative variables and measure how changes in one variable influence the other.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en-US" sz="1600" dirty="0"/>
              <a:t>This model is appropriate because it allows us to evaluate the relationship between two quantitative variables and measure how changes in one variable influence the other.</a:t>
            </a:r>
            <a:endParaRPr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US" sz="2800" dirty="0" err="1"/>
              <a:t>Regression</a:t>
            </a:r>
            <a:r>
              <a:rPr lang="es-US" sz="2800" dirty="0"/>
              <a:t> </a:t>
            </a:r>
            <a:r>
              <a:rPr lang="es-US" sz="2800" dirty="0" err="1"/>
              <a:t>Model</a:t>
            </a:r>
            <a:endParaRPr sz="2800" dirty="0"/>
          </a:p>
        </p:txBody>
      </p:sp>
      <p:sp>
        <p:nvSpPr>
          <p:cNvPr id="199" name="Google Shape;199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9048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n-US" sz="1600" dirty="0"/>
              <a:t>The visualization represents the simple linear regression model used in this analysis, illustrating the relationship between clicks and conversions.</a:t>
            </a:r>
            <a:endParaRPr sz="1600" dirty="0"/>
          </a:p>
        </p:txBody>
      </p:sp>
      <p:pic>
        <p:nvPicPr>
          <p:cNvPr id="200" name="Google Shape;20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3900" y="2001525"/>
            <a:ext cx="3856176" cy="289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3900" y="2001525"/>
            <a:ext cx="3856174" cy="2892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US" sz="2800" dirty="0"/>
              <a:t>Final </a:t>
            </a:r>
            <a:r>
              <a:rPr lang="es-US" sz="2800" dirty="0" err="1"/>
              <a:t>Insights</a:t>
            </a:r>
            <a:endParaRPr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83669C-96EF-69B7-0D28-B0A5A480E1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1247608"/>
            <a:ext cx="874364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Facebook </a:t>
            </a: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generates</a:t>
            </a: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significantly</a:t>
            </a: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more </a:t>
            </a: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conversions</a:t>
            </a: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</a:t>
            </a: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AdWords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US" altLang="es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difference</a:t>
            </a: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statistically</a:t>
            </a: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significant</a:t>
            </a:r>
            <a:endParaRPr kumimoji="0" lang="es-US" altLang="es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US" altLang="es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Clicks</a:t>
            </a: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conversions</a:t>
            </a: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 a positive </a:t>
            </a: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relationship</a:t>
            </a:r>
            <a:endParaRPr kumimoji="0" lang="es-US" altLang="es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8667CE-B738-4410-AA56-B63E8F07C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US" dirty="0" err="1"/>
              <a:t>Recommendations</a:t>
            </a:r>
            <a:endParaRPr lang="es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87AB3A-D52E-8526-6CD5-9F654A2643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1309212"/>
            <a:ext cx="786625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Allocate</a:t>
            </a: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greater</a:t>
            </a: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portion</a:t>
            </a: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advertising</a:t>
            </a: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budget</a:t>
            </a: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Facebook </a:t>
            </a: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campaigns</a:t>
            </a:r>
            <a:endParaRPr kumimoji="0" lang="es-US" altLang="es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US" altLang="es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</a:t>
            </a: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</a:t>
            </a: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 </a:t>
            </a: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conversion</a:t>
            </a: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future </a:t>
            </a: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analyses</a:t>
            </a:r>
            <a:endParaRPr kumimoji="0" lang="es-US" altLang="es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US" altLang="es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Segment</a:t>
            </a: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</a:t>
            </a: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audience</a:t>
            </a: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</a:t>
            </a: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deeper</a:t>
            </a: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US" altLang="es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insights</a:t>
            </a:r>
            <a:endParaRPr kumimoji="0" lang="es-US" altLang="es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18405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585</Words>
  <Application>Microsoft Office PowerPoint</Application>
  <PresentationFormat>Presentación en pantalla (16:9)</PresentationFormat>
  <Paragraphs>83</Paragraphs>
  <Slides>18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DM Sans</vt:lpstr>
      <vt:lpstr>Arial</vt:lpstr>
      <vt:lpstr>Roboto</vt:lpstr>
      <vt:lpstr>Simple Light</vt:lpstr>
      <vt:lpstr>Marketing Conversion Analysis: Facebook vs Google AdWords</vt:lpstr>
      <vt:lpstr>Business Context</vt:lpstr>
      <vt:lpstr>Descriptive Statistics – Ad Clicks </vt:lpstr>
      <vt:lpstr>Descriptive Statistics – AdWords Conversions </vt:lpstr>
      <vt:lpstr>Standard Deviation </vt:lpstr>
      <vt:lpstr>Frequency and Contingency Tables</vt:lpstr>
      <vt:lpstr>Scatter Plot and Correlation Analysis </vt:lpstr>
      <vt:lpstr>Exploratory Data Analysis </vt:lpstr>
      <vt:lpstr>Distribution Assessment </vt:lpstr>
      <vt:lpstr>Variable Types</vt:lpstr>
      <vt:lpstr>Research Question and Hypothesis</vt:lpstr>
      <vt:lpstr>Variables</vt:lpstr>
      <vt:lpstr>Hypothesis Testing Results</vt:lpstr>
      <vt:lpstr>Hypothesis Outcome</vt:lpstr>
      <vt:lpstr>Model Selection</vt:lpstr>
      <vt:lpstr>Regression Model</vt:lpstr>
      <vt:lpstr>Final Insights</vt:lpstr>
      <vt:lpstr>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Aluhe Maeda Torresan</dc:creator>
  <cp:lastModifiedBy>Aluhe Maeda Torresan</cp:lastModifiedBy>
  <cp:revision>3</cp:revision>
  <dcterms:modified xsi:type="dcterms:W3CDTF">2026-02-09T17:38:10Z</dcterms:modified>
</cp:coreProperties>
</file>